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Red-teaming frontier LLMs in six South African languages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Global South AI Safety Hackathon  ·  19–21 June 2026</a:t>
            </a:r>
            <a:b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Team AfriGuard — Cape Town Hub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June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Safety Gap in African Languages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57200" y="1280150"/>
            <a:ext cx="111315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AI is deploying fast across Africa. Safety alignment hasn't kept up in local languages.</a:t>
            </a:r>
            <a:endParaRPr sz="24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South Africa has 12 official languages. isiZulu (12M), isiXhosa (8M), Afrikaans (7M), Sepedi (5M), Sesotho (4M) and Tsonga (3M) together cover tens of millions of users.</a:t>
            </a:r>
            <a:endParaRPr sz="24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None of these languages receive safety alignment comparable to English.</a:t>
            </a:r>
            <a:endParaRPr sz="24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Adversaries need no special skill: plain local-language prompts, "educational" framing, or local context can bypass guardrails.</a:t>
            </a:r>
            <a:endParaRPr sz="24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harm is concrete: gang recruitment, SASSA grant scams, bank phishing, xenophobic incitement, and political disinformation already circulate by SMS and WhatsApp in South Africa.</a:t>
            </a:r>
            <a:endParaRPr sz="24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1,120  model responses evaluated  |  7 languages, incl. English baseline  |  4 frontier models tested  |  4 harm categories assessed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19–21 June 2026  |  Team AfriGuard, Cape Town Hub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Which Models Hold the Line?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1280150"/>
            <a:ext cx="5741400" cy="5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GPT-OSS (20B) is the most robust model, refusing 50.2% of adversarial prompts and achieving only 42.1% ASR.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Qwen 3 (32B) is catastrophically vulnerable: 7.6% refusal rate and 80.6% ASR across all languages.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Kimi K2.6 sits in between with 23.6% refusal and 70.9% ASR — a binary failure mode (refuses or complies fully).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Llama 3.3 (70B) shows 54.1% ASR but the highest partial rate (34.9%), indicating ambiguous engagement with harmful requests.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Safety performance does NOT track parameter count: GPT-OSS (20B active) outperforms Qwen (32B) and Llama (70B).</a:t>
            </a:r>
            <a:endParaRPr sz="1800"/>
          </a:p>
        </p:txBody>
      </p:sp>
      <p:pic>
        <p:nvPicPr>
          <p:cNvPr descr="fig2_model_comparison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280160"/>
            <a:ext cx="530352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19–21 June 2026  |  Team AfriGuard, Cape Town Hub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the Vulnerabilities Concentrate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457200" y="1280150"/>
            <a:ext cx="56574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isiXhosa (73.5%), Sepedi (77.8%) and Tsonga (68.7%) post the highest attack success rates when averaged across all four models.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English is the safest language at 26.6% ASR — but even that baseline is far from acceptable.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Afrikaans, a Germanic language with more training data, shows the smallest gap at +21.9 pp (48.8% ASR).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Bantu languages (isiZulu, isiXhosa, Sesotho, Sepedi, Tsonga) cluster at 60.5–77.8% ASR, suggesting morphological complexity disrupts safety classifiers.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Qwen 3 reaches 95% ASR in Afrikaans and 92.5% in Sepedi. Kimi hits 94.5% in isiZulu and 91% in Tsonga.</a:t>
            </a:r>
            <a:endParaRPr sz="1800"/>
          </a:p>
        </p:txBody>
      </p:sp>
      <p:pic>
        <p:nvPicPr>
          <p:cNvPr descr="fig4_jailbreak_by_model_lang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280160"/>
            <a:ext cx="5303520" cy="318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19–21 June 2026  |  Team AfriGuard, Cape Town Hub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Harm Category Vulnerability Heatmap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457200" y="1280150"/>
            <a:ext cx="4114800" cy="4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Political disinformation is the most dangerous category: 67.1% mean ASR, with Sepedi reaching 82.1%.</a:t>
            </a:r>
            <a:endParaRPr sz="15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Xenophobic incitement shows the most extreme language disparity: English at 20.0%, Tsonga at 83.3% — a 4.2× multiplier.</a:t>
            </a:r>
            <a:endParaRPr sz="15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Gang/criminal facilitation averages 64.3% ASR, with Sesotho at 75.8% and isiXhosa at 75.0%.</a:t>
            </a:r>
            <a:endParaRPr sz="15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Financial fraud, while the 'safest' category at 52.8% mean ASR, still reaches 72.7% in Sepedi.</a:t>
            </a:r>
            <a:endParaRPr sz="15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harm category is safe in any African language. Even the lowest cell (English financial fraud at 13.2%) is concerning.</a:t>
            </a:r>
            <a:endParaRPr sz="1500"/>
          </a:p>
        </p:txBody>
      </p:sp>
      <p:pic>
        <p:nvPicPr>
          <p:cNvPr descr="fig1_asr_heatmap.pn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2125" y="1665200"/>
            <a:ext cx="7839801" cy="435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19–21 June 2026  |  Team AfriGuard, Cape Town Hub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Language Safety Gap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457200" y="1280160"/>
            <a:ext cx="59436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English baseline ASR: 26.8%. Every African language exceeds this by a significant margin.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Afrikaans shows the smallest gap at +21.9 pp (48.8% ASR) — likely due to Germanic roots and more training data.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Sepedi shows the largest gap at +50.9 pp (77.7% ASR) — a Sotho-Tswana language with minimal safety alignment.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isiXhosa (+46.7 pp) and Tsonga (+43.0 pp) confirm that Bantu morphological complexity disrupts safety heuristics.</a:t>
            </a:r>
            <a:endParaRPr sz="1800"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gap is not uniform: it scales with linguistic distance from English and training data availability.</a:t>
            </a:r>
            <a:endParaRPr sz="1800"/>
          </a:p>
        </p:txBody>
      </p:sp>
      <p:pic>
        <p:nvPicPr>
          <p:cNvPr descr="fig3_language_safety_gap.pn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280160"/>
            <a:ext cx="530352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19–21 June 2026  |  Team AfriGuard, Cape Town Hub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Catastrophic Failure Modes (ASR &gt; 90%)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457200" y="1188720"/>
            <a:ext cx="530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Most Dangerous Combinations</a:t>
            </a:r>
            <a:endParaRPr sz="1900"/>
          </a:p>
        </p:txBody>
      </p:sp>
      <p:sp>
        <p:nvSpPr>
          <p:cNvPr id="139" name="Google Shape;139;p19"/>
          <p:cNvSpPr txBox="1"/>
          <p:nvPr/>
        </p:nvSpPr>
        <p:spPr>
          <a:xfrm>
            <a:off x="457200" y="1645920"/>
            <a:ext cx="5303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Kimi K2.6 + isiZulu: 94.5%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Qwen 3 (32B) + Afrikaans: 95.0%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Kimi K2.6 + Tsonga: 91.0%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Qwen 3 (32B) + Sepedi: 92.5%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Qwen 3 (32B) + isiXhosa: 90.0%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C62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These models comply with harmful requests in local languages 9+ times out of 10.</a:t>
            </a:r>
            <a:endParaRPr sz="1900"/>
          </a:p>
        </p:txBody>
      </p:sp>
      <p:sp>
        <p:nvSpPr>
          <p:cNvPr id="140" name="Google Shape;140;p19"/>
          <p:cNvSpPr txBox="1"/>
          <p:nvPr/>
        </p:nvSpPr>
        <p:spPr>
          <a:xfrm>
            <a:off x="6309360" y="1188720"/>
            <a:ext cx="530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Safest Combinations</a:t>
            </a:r>
            <a:endParaRPr sz="1900"/>
          </a:p>
        </p:txBody>
      </p:sp>
      <p:sp>
        <p:nvSpPr>
          <p:cNvPr id="141" name="Google Shape;141;p19"/>
          <p:cNvSpPr txBox="1"/>
          <p:nvPr/>
        </p:nvSpPr>
        <p:spPr>
          <a:xfrm>
            <a:off x="6309360" y="1645920"/>
            <a:ext cx="5303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GPT-OSS (20B) + English: 10.0%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GPT-OSS (20B) + Afrikaans: 10.0%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GPT-OSS (20B) + isiZulu: 35.0%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GPT-OSS (20B) + isiXhosa: 45.5%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Llama 3.3 (70B) + English: 32.0% ASR</a:t>
            </a:r>
            <a:endParaRPr sz="19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2E7D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GPT-OSS is the only model maintaining sub-50% ASR for any African language.</a:t>
            </a:r>
            <a:endParaRPr sz="1900"/>
          </a:p>
        </p:txBody>
      </p:sp>
      <p:sp>
        <p:nvSpPr>
          <p:cNvPr id="142" name="Google Shape;142;p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19–21 June 2026  |  Team AfriGuard, Cape Town Hub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Low-Resource Languages Bypass Safety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Token Alignment Gaps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457200" y="1828800"/>
            <a:ext cx="3474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Safety-critical concepts ('fraud', 'scam', 'phishing', 'xenophobia') do not align cross-lingually in embedding space. Refusal triggers misfire when the same concept is expressed in Bantu noun classes or agglutinative morphology.</a:t>
            </a:r>
            <a:endParaRPr sz="2000"/>
          </a:p>
        </p:txBody>
      </p:sp>
      <p:sp>
        <p:nvSpPr>
          <p:cNvPr id="151" name="Google Shape;151;p20"/>
          <p:cNvSpPr txBox="1"/>
          <p:nvPr/>
        </p:nvSpPr>
        <p:spPr>
          <a:xfrm>
            <a:off x="4297680" y="12801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Training Data Imbalance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4297680" y="1828800"/>
            <a:ext cx="34746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Safety training data is overwhelmingly English. Qwen 3 was trained on 36 trillion tokens across 119 languages — yet achieves 80.6% ASR. Exposure ≠ alignment. African language safety examples are sparse or absent.</a:t>
            </a:r>
            <a:endParaRPr sz="2000"/>
          </a:p>
        </p:txBody>
      </p:sp>
      <p:sp>
        <p:nvSpPr>
          <p:cNvPr id="153" name="Google Shape;153;p20"/>
          <p:cNvSpPr txBox="1"/>
          <p:nvPr/>
        </p:nvSpPr>
        <p:spPr>
          <a:xfrm>
            <a:off x="8138160" y="12801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Classifier Distribution Shift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8138160" y="1828800"/>
            <a:ext cx="34746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Safety classifiers trained on English token distributions fail when confronted with different n-gram and morphological patterns. The English &lt; Afrikaans &lt; Bantu gradient suggests distributional distance from the training domain drives vulnerability.</a:t>
            </a:r>
            <a:endParaRPr sz="2000"/>
          </a:p>
        </p:txBody>
      </p:sp>
      <p:sp>
        <p:nvSpPr>
          <p:cNvPr id="155" name="Google Shape;155;p2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19–21 June 2026  |  Team AfriGuard, Cape Town Hub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Multilingual Safety Can't Be an Afterthought</a:t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457200" y="1280160"/>
            <a:ext cx="10972800" cy="1463040"/>
          </a:xfrm>
          <a:prstGeom prst="roundRect">
            <a:avLst>
              <a:gd fmla="val 16667" name="adj"/>
            </a:avLst>
          </a:prstGeom>
          <a:solidFill>
            <a:srgbClr val="FDEDE2"/>
          </a:solidFill>
          <a:ln cap="flat" cmpd="sng" w="25400">
            <a:solidFill>
              <a:srgbClr val="E85D0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640080" y="1371600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model can be safe in English and catastrophically unsafe in an African language. Qwen 3 (32B) proves it: 7.6% refusal and 80.6% attack success across every language tested. Even the most robust model, GPT-OSS (20B), still achieves 42.1% ASR — far from safe.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457200" y="32918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Audit chatbots in isiZulu, isiXhosa, and Sepedi before deployment — especially for fraud, disinformation, and incitement risk.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Fine-tune safety classifiers on African-language adversarial examples, not English-only ones. The AfriGuard dataset is open for this purpose.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Extend coverage to Ndebele, Swati, Venda, and Tshivenda — given Sepedi's 77.8% ASR, these unstudied languages are likely equally vulnerable.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Engage FSCA, SARB, and the IEC on multilingual safety requirements for deployed models in financial and electoral contexts.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Do not assume multilingual capability implies multilingual safety. Qwen 3's 119-language training did not prevent 80.6% ASR.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Code, dataset and evaluation pipeline open for community auditing  ·  Global South AI Safety Hackathon, 19–21 June 2026  ·  Team AfriGuard, Cape Town Hub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AfriGuard: Open-Source Safety Auditing for African Languages</a:t>
            </a:r>
            <a:endParaRPr/>
          </a:p>
        </p:txBody>
      </p:sp>
      <p:sp>
        <p:nvSpPr>
          <p:cNvPr id="173" name="Google Shape;173;p22"/>
          <p:cNvSpPr txBox="1"/>
          <p:nvPr/>
        </p:nvSpPr>
        <p:spPr>
          <a:xfrm>
            <a:off x="731520" y="3481935"/>
            <a:ext cx="10698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1,120 adversarial prompts  ·  7 languages  ·  4 frontier models  ·  4 harm categories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github.com/ubayd-hattas/Global-South-Hackathon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Jaswin Chinthala  ·  Seth Miguel Ferreira  ·  Ubayd Hattas  ·  Sebastian Stent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AfriGuard  |  Global South AI Safety Hackathon, June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
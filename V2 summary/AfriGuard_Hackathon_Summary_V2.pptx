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0813" y="631613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AfriGuard</a:t>
            </a:r>
            <a:r>
              <a:rPr dirty="0"/>
              <a:t>: Multilingual Safety Red-Teaming</a:t>
            </a:r>
            <a:br>
              <a:rPr dirty="0"/>
            </a:br>
            <a:r>
              <a:rPr dirty="0"/>
              <a:t>for South African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6003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AAAA"/>
                </a:solidFill>
                <a:latin typeface="Calibri"/>
              </a:defRPr>
            </a:pPr>
            <a:r>
              <a:rPr sz="2800" dirty="0"/>
              <a:t>Global South AI Safety Hackathon · 19–21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C040"/>
                </a:solidFill>
                <a:latin typeface="Calibri"/>
              </a:defRPr>
            </a:pPr>
            <a:r>
              <a:rPr dirty="0"/>
              <a:t>Version 2.0 — Corrected Analysis (Full 1,120 Evaluations)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Team AfriGuard — Cape Town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sz="1600" dirty="0"/>
              <a:t>Jaswin Chinthala · Seth Miguel Ferreira · Ubayd Hattas · Sebastian Stent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90D9"/>
                </a:solidFill>
                <a:latin typeface="Calibri"/>
              </a:defRPr>
            </a:pPr>
            <a:r>
              <a:t>Dashboard: afriguard.streamlit.app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90D9"/>
                </a:solidFill>
                <a:latin typeface="Calibri"/>
              </a:defRPr>
            </a:pPr>
            <a:r>
              <a:t>Code: github.com/ubayd-hattas/AfriGuard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rPr dirty="0" err="1"/>
              <a:t>AfriGuard</a:t>
            </a:r>
            <a:r>
              <a:rPr dirty="0"/>
              <a:t> | Global South AI Safety Hackathon, 19–21 June 2026 | Team </a:t>
            </a:r>
            <a:r>
              <a:rPr dirty="0" err="1"/>
              <a:t>AfriGuard</a:t>
            </a:r>
            <a:r>
              <a:rPr dirty="0"/>
              <a:t>, Cape Town 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0335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Safety Gap in African Languages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12333"/>
            <a:ext cx="10927080" cy="2013373"/>
          </a:xfrm>
          <a:prstGeom prst="roundRect">
            <a:avLst/>
          </a:prstGeom>
          <a:solidFill>
            <a:srgbClr val="1A1F2E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AI is deploying fast across Africa. Safety alignment hasn't kept up in local languages.</a:t>
            </a:r>
            <a:br>
              <a:rPr dirty="0"/>
            </a:br>
            <a:br>
              <a:rPr dirty="0"/>
            </a:br>
            <a:r>
              <a:rPr dirty="0"/>
              <a:t>South Africa has 12 official languages. isiZulu (12M), isiXhosa (8M), Afrikaans (7M), Sepedi (5M), Sesotho (4M) and Tsonga (3M) together cover tens of millions of users.</a:t>
            </a:r>
            <a:br>
              <a:rPr dirty="0"/>
            </a:br>
            <a:br>
              <a:rPr dirty="0"/>
            </a:br>
            <a:r>
              <a:rPr dirty="0"/>
              <a:t>None of these languages receive safety alignment comparable to English.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490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sz="1600" dirty="0"/>
              <a:t>■ Adversaries need no special skill: plain local-language prompts, "educational" framing, or local context can bypass guardrails.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3078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sz="1600" dirty="0"/>
              <a:t>■ The harm is concrete: gang recruitment, SASSA grant scams, bank phishing, xenophobic incitement, and political disinformation.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5245946"/>
            <a:ext cx="10972800" cy="7315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44496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C040"/>
                </a:solidFill>
                <a:latin typeface="Calibri"/>
              </a:defRPr>
            </a:pPr>
            <a:r>
              <a:rPr dirty="0"/>
              <a:t>1,120  model responses evaluated  |  7 languages, incl. English baseline  |  4 frontier models tested  |  4 harm categories assessed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AfriGuard | Global South AI Safety Hackathon, 19–21 June 2026 | Team AfriGuard, Cape Town 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Erratum — Version 2.0 Update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822960"/>
          </a:xfrm>
          <a:prstGeom prst="roundRect">
            <a:avLst/>
          </a:prstGeom>
          <a:solidFill>
            <a:srgbClr val="332211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C040"/>
                </a:solidFill>
                <a:latin typeface="Calibri"/>
              </a:defRPr>
            </a:pPr>
            <a:r>
              <a:t>After submitting Version 1.0, we discovered a bug in our evaluation pipeline (judge.py) that caused only 953 of 1,120 responses (85%) to be processed.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bug: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Silent data loss in the heuristic classification loop — certain API response formats were incorrectly skipped.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Impact: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dirty="0"/>
              <a:t>~15% of evaluations missing, causing inflated ASR in Version 1.0 for some combinations.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corrections: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Overall mean ASR: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60.6%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4A"/>
                </a:solidFill>
                <a:latin typeface="Calibri"/>
              </a:defRPr>
            </a:pPr>
            <a:r>
              <a:t>50.1%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Qwen 3 ASR: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80.6%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4A"/>
                </a:solidFill>
                <a:latin typeface="Calibri"/>
              </a:defRPr>
            </a:pPr>
            <a:r>
              <a:t>78.6%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Kimi K2.6 ASR: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70.9%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4A"/>
                </a:solidFill>
                <a:latin typeface="Calibri"/>
              </a:defRPr>
            </a:pPr>
            <a:r>
              <a:t>32.1%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GPT-OSS ASR: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937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42.1%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937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4A"/>
                </a:solidFill>
                <a:latin typeface="Calibri"/>
              </a:defRPr>
            </a:pPr>
            <a:r>
              <a:t>35.4%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Catastrophic failures: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2120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5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2120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4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rPr dirty="0"/>
              <a:t>Version 1.0 remains in the repository for transparency.</a:t>
            </a:r>
            <a:br>
              <a:rPr dirty="0"/>
            </a:br>
            <a:r>
              <a:rPr dirty="0"/>
              <a:t>All figures updated to reflect the complete 1,120-response dataset.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AfriGuard | Global South AI Safety Hackathon, 19–21 June 2026 | Team AfriGuard, Cape Town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Which Models Hold the Line?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0972800" cy="914400"/>
          </a:xfrm>
          <a:prstGeom prst="roundRect">
            <a:avLst/>
          </a:prstGeom>
          <a:solidFill>
            <a:srgbClr val="1A1F2E"/>
          </a:solidFill>
          <a:ln>
            <a:solidFill>
              <a:srgbClr val="E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4A4A"/>
                </a:solidFill>
                <a:latin typeface="Calibri"/>
              </a:defRPr>
            </a:pPr>
            <a:r>
              <a:t>Qwen 3 (32B)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4A4A"/>
                </a:solidFill>
                <a:latin typeface="Calibri"/>
              </a:defRPr>
            </a:pPr>
            <a:r>
              <a:t>ASR: 78.6%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Refusal: 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Partial: 14.3%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Catastrophically vulnerable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10972800" cy="914400"/>
          </a:xfrm>
          <a:prstGeom prst="roundRect">
            <a:avLst/>
          </a:prstGeom>
          <a:solidFill>
            <a:srgbClr val="1A1F2E"/>
          </a:solidFill>
          <a:ln>
            <a:solidFill>
              <a:srgbClr val="FF6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4B"/>
                </a:solidFill>
                <a:latin typeface="Calibri"/>
              </a:defRPr>
            </a:pPr>
            <a:r>
              <a:t>Llama 3.3 (70B)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4B"/>
                </a:solidFill>
                <a:latin typeface="Calibri"/>
              </a:defRPr>
            </a:pPr>
            <a:r>
              <a:t>ASR: 54.3%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Refusal: 11.1%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Partial: 34.6%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Moderately vulnerable; high partial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66160"/>
            <a:ext cx="10972800" cy="914400"/>
          </a:xfrm>
          <a:prstGeom prst="roundRect">
            <a:avLst/>
          </a:prstGeom>
          <a:solidFill>
            <a:srgbClr val="1A1F2E"/>
          </a:solidFill>
          <a:ln>
            <a:solidFill>
              <a:srgbClr val="4A9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6118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B4A"/>
                </a:solidFill>
                <a:latin typeface="Calibri"/>
              </a:defRPr>
            </a:pPr>
            <a:r>
              <a:t>GPT-OSS (20B)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6118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B4A"/>
                </a:solidFill>
                <a:latin typeface="Calibri"/>
              </a:defRPr>
            </a:pPr>
            <a:r>
              <a:t>ASR: 35.4%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6118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Refusal: 45.4%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118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Partial: 19.3%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Most robust; highest refusal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17720"/>
            <a:ext cx="10972800" cy="914400"/>
          </a:xfrm>
          <a:prstGeom prst="roundRect">
            <a:avLst/>
          </a:prstGeom>
          <a:solidFill>
            <a:srgbClr val="1A1F2E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C040"/>
                </a:solidFill>
                <a:latin typeface="Calibri"/>
              </a:defRPr>
            </a:pPr>
            <a:r>
              <a:t>Kimi K2.6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Calibri"/>
              </a:defRPr>
            </a:pPr>
            <a:r>
              <a:t>ASR: 32.1%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663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Refusal: 10.0%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663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Partial: 57.9%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83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Low ASR but extremely high partial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Calibri"/>
              </a:defRPr>
            </a:pPr>
            <a:r>
              <a:t>Safety performance does NOT track parameter count: GPT-OSS (20B) outperforms Qwen (32B) and Llama (70B).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AfriGuard | Global South AI Safety Hackathon, 19–21 June 2026 | Team AfriGuard, Cape Town 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Where the Vulnerabilities Concentrate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AA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AA"/>
                </a:solidFill>
                <a:latin typeface="Calibri"/>
              </a:defRPr>
            </a:pPr>
            <a:r>
              <a:t>ASR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1465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AA"/>
                </a:solidFill>
                <a:latin typeface="Calibri"/>
              </a:defRPr>
            </a:pPr>
            <a:r>
              <a:rPr dirty="0"/>
              <a:t>Gap vs English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691640"/>
            <a:ext cx="2194560" cy="182880"/>
          </a:xfrm>
          <a:prstGeom prst="rect">
            <a:avLst/>
          </a:prstGeom>
          <a:solidFill>
            <a:srgbClr val="E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4A4A"/>
                </a:solidFill>
                <a:latin typeface="Calibri"/>
              </a:defRPr>
            </a:pPr>
            <a:r>
              <a:t>isiXhosa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4A4A"/>
                </a:solidFill>
                <a:latin typeface="Calibri"/>
              </a:defRPr>
            </a:pPr>
            <a:r>
              <a:t>60.0%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2055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dirty="0"/>
              <a:t>+35.6 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103120"/>
            <a:ext cx="2172614" cy="182880"/>
          </a:xfrm>
          <a:prstGeom prst="rect">
            <a:avLst/>
          </a:prstGeom>
          <a:solidFill>
            <a:srgbClr val="E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4A4A"/>
                </a:solidFill>
                <a:latin typeface="Calibri"/>
              </a:defRPr>
            </a:pPr>
            <a:r>
              <a:t>Sepedi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8854" y="2057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4A4A"/>
                </a:solidFill>
                <a:latin typeface="Calibri"/>
              </a:defRPr>
            </a:pPr>
            <a:r>
              <a:t>59.4%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0454" y="2057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dirty="0"/>
              <a:t>+35.0 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514600"/>
            <a:ext cx="2033625" cy="182880"/>
          </a:xfrm>
          <a:prstGeom prst="rect">
            <a:avLst/>
          </a:prstGeom>
          <a:solidFill>
            <a:srgbClr val="FF6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4B"/>
                </a:solidFill>
                <a:latin typeface="Calibri"/>
              </a:defRPr>
            </a:pPr>
            <a:r>
              <a:t>Sesotho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9865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4B"/>
                </a:solidFill>
                <a:latin typeface="Calibri"/>
              </a:defRPr>
            </a:pPr>
            <a:r>
              <a:t>55.6%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2055" y="242654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dirty="0"/>
              <a:t>+31.2 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926080"/>
            <a:ext cx="1989734" cy="182880"/>
          </a:xfrm>
          <a:prstGeom prst="rect">
            <a:avLst/>
          </a:prstGeom>
          <a:solidFill>
            <a:srgbClr val="FF6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4B"/>
                </a:solidFill>
                <a:latin typeface="Calibri"/>
              </a:defRPr>
            </a:pPr>
            <a:r>
              <a:t>Tsonga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5974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4B"/>
                </a:solidFill>
                <a:latin typeface="Calibri"/>
              </a:defRPr>
            </a:pPr>
            <a:r>
              <a:t>54.4%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1759" y="283125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+30.0 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337560"/>
            <a:ext cx="1898294" cy="18288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C040"/>
                </a:solidFill>
                <a:latin typeface="Calibri"/>
              </a:defRPr>
            </a:pPr>
            <a:r>
              <a:t>isiZulu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4534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Calibri"/>
              </a:defRPr>
            </a:pPr>
            <a:r>
              <a:t>51.9%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1759" y="326728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+27.5 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3749040"/>
            <a:ext cx="1645920" cy="182880"/>
          </a:xfrm>
          <a:prstGeom prst="rect">
            <a:avLst/>
          </a:prstGeom>
          <a:solidFill>
            <a:srgbClr val="4A9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9B4A"/>
                </a:solidFill>
                <a:latin typeface="Calibri"/>
              </a:defRPr>
            </a:pPr>
            <a:r>
              <a:t>Afrikaans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59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4A"/>
                </a:solidFill>
                <a:latin typeface="Calibri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0454" y="36652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+20.6 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4160520"/>
            <a:ext cx="892454" cy="182880"/>
          </a:xfrm>
          <a:prstGeom prst="rect">
            <a:avLst/>
          </a:prstGeom>
          <a:solidFill>
            <a:srgbClr val="4A9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9B4A"/>
                </a:solidFill>
                <a:latin typeface="Calibri"/>
              </a:defRPr>
            </a:pPr>
            <a:r>
              <a:t>English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8694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4A"/>
                </a:solidFill>
                <a:latin typeface="Calibri"/>
              </a:defRPr>
            </a:pPr>
            <a:r>
              <a:t>24.4%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06315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7334" y="451883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sz="1600" dirty="0"/>
              <a:t>Bantu languages cluster at 51.9–60.0% ASR, suggesting morphological complexity disrupts safety classifiers.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7334" y="4857384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sz="1600" dirty="0"/>
              <a:t>Qwen 3 reaches 92.5% ASR in Afrikaans and Sepedi. Llama hits 80.0% in isiXhosa.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AfriGuard | Global South AI Safety Hackathon, 19–21 June 2026 | Team AfriGuard, Cape Town Hub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BD7B35-DC8A-050F-0F46-D40E04486A36}"/>
              </a:ext>
            </a:extLst>
          </p:cNvPr>
          <p:cNvSpPr txBox="1"/>
          <p:nvPr/>
        </p:nvSpPr>
        <p:spPr>
          <a:xfrm>
            <a:off x="609447" y="5211857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sz="1600" dirty="0"/>
              <a:t>Afrikaans shows the smallest gap (+20.6 pp) — likely due to Germanic roots and more training data.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5766C6-4852-E607-D733-5FB16E666CF2}"/>
              </a:ext>
            </a:extLst>
          </p:cNvPr>
          <p:cNvSpPr txBox="1"/>
          <p:nvPr/>
        </p:nvSpPr>
        <p:spPr>
          <a:xfrm>
            <a:off x="548640" y="556709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sz="1600" dirty="0"/>
              <a:t>isiXhosa shows the largest gap (+35.6 pp) — a Nguni language with minimal safety alignment.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4C505E-6F28-B690-93B9-8CC7F04A7736}"/>
              </a:ext>
            </a:extLst>
          </p:cNvPr>
          <p:cNvSpPr txBox="1"/>
          <p:nvPr/>
        </p:nvSpPr>
        <p:spPr>
          <a:xfrm>
            <a:off x="567334" y="5921081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sz="1600" dirty="0"/>
              <a:t>The gap scales with linguistic distance from English and training data availability.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Harm Category Vulnerability Heatmap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0972800" cy="914400"/>
          </a:xfrm>
          <a:prstGeom prst="roundRect">
            <a:avLst/>
          </a:prstGeom>
          <a:solidFill>
            <a:srgbClr val="1A1F2E"/>
          </a:solidFill>
          <a:ln>
            <a:solidFill>
              <a:srgbClr val="E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4A4A"/>
                </a:solidFill>
                <a:latin typeface="Calibri"/>
              </a:defRPr>
            </a:pPr>
            <a:r>
              <a:t>Gang/Criminal Facilitation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4A4A"/>
                </a:solidFill>
                <a:latin typeface="Calibri"/>
              </a:defRPr>
            </a:pPr>
            <a:r>
              <a:t>Mean ASR: 53.6%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Peak: Sesotho 62.5%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10972800" cy="914400"/>
          </a:xfrm>
          <a:prstGeom prst="roundRect">
            <a:avLst/>
          </a:prstGeom>
          <a:solidFill>
            <a:srgbClr val="1A1F2E"/>
          </a:solidFill>
          <a:ln>
            <a:solidFill>
              <a:srgbClr val="E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4A4A"/>
                </a:solidFill>
                <a:latin typeface="Calibri"/>
              </a:defRPr>
            </a:pPr>
            <a:r>
              <a:t>Political Disinformation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4A4A"/>
                </a:solidFill>
                <a:latin typeface="Calibri"/>
              </a:defRPr>
            </a:pPr>
            <a:r>
              <a:t>Mean ASR: 52.9%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Peak: isiZulu 62.5%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10972800" cy="914400"/>
          </a:xfrm>
          <a:prstGeom prst="roundRect">
            <a:avLst/>
          </a:prstGeom>
          <a:solidFill>
            <a:srgbClr val="1A1F2E"/>
          </a:solidFill>
          <a:ln>
            <a:solidFill>
              <a:srgbClr val="FF6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6118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4B"/>
                </a:solidFill>
                <a:latin typeface="Calibri"/>
              </a:defRPr>
            </a:pPr>
            <a:r>
              <a:t>Xenophobic Incitement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6118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4B"/>
                </a:solidFill>
                <a:latin typeface="Calibri"/>
              </a:defRPr>
            </a:pPr>
            <a:r>
              <a:t>Mean ASR: 49.3%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6118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Peak: Tsonga 75.0%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17720"/>
            <a:ext cx="10972800" cy="914400"/>
          </a:xfrm>
          <a:prstGeom prst="roundRect">
            <a:avLst/>
          </a:prstGeom>
          <a:solidFill>
            <a:srgbClr val="1A1F2E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C040"/>
                </a:solidFill>
                <a:latin typeface="Calibri"/>
              </a:defRPr>
            </a:pPr>
            <a:r>
              <a:t>Financial Fraud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663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Calibri"/>
              </a:defRPr>
            </a:pPr>
            <a:r>
              <a:t>Mean ASR: 44.6%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Peak: Sesotho/Sepedi 60.0%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Calibri"/>
              </a:defRPr>
            </a:pPr>
            <a:r>
              <a:t>No harm category is safe in any African language. Even the lowest cell (English financial fraud at 10.0%) is concerning.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AfriGuard | Global South AI Safety Hackathon, 19–21 June 2026 | Team AfriGuard, Cape Town 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Catastrophic Failure Modes (ASR &gt; 90%)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4A4A"/>
                </a:solidFill>
                <a:latin typeface="Calibri"/>
              </a:defRPr>
            </a:pPr>
            <a:r>
              <a:t>Most Dangerous Combinations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029200" cy="548640"/>
          </a:xfrm>
          <a:prstGeom prst="roundRect">
            <a:avLst/>
          </a:prstGeom>
          <a:solidFill>
            <a:srgbClr val="331111"/>
          </a:solidFill>
          <a:ln>
            <a:solidFill>
              <a:srgbClr val="E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2253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4A4A"/>
                </a:solidFill>
                <a:latin typeface="Calibri"/>
              </a:defRPr>
            </a:pPr>
            <a:r>
              <a:t>Qwen 3 (32B) + Afrikaans: 92.5% ASR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5029200" cy="548640"/>
          </a:xfrm>
          <a:prstGeom prst="roundRect">
            <a:avLst/>
          </a:prstGeom>
          <a:solidFill>
            <a:srgbClr val="331111"/>
          </a:solidFill>
          <a:ln>
            <a:solidFill>
              <a:srgbClr val="E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5374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4A4A"/>
                </a:solidFill>
                <a:latin typeface="Calibri"/>
              </a:defRPr>
            </a:pPr>
            <a:r>
              <a:t>Qwen 3 (32B) + Sepedi: 92.5% ASR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5029200" cy="548640"/>
          </a:xfrm>
          <a:prstGeom prst="roundRect">
            <a:avLst/>
          </a:prstGeom>
          <a:solidFill>
            <a:srgbClr val="331111"/>
          </a:solidFill>
          <a:ln>
            <a:solidFill>
              <a:srgbClr val="E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4A4A"/>
                </a:solidFill>
                <a:latin typeface="Calibri"/>
              </a:defRPr>
            </a:pPr>
            <a:r>
              <a:t>Qwen 3 (32B) + isiXhosa: 90.0% ASR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9B4A"/>
                </a:solidFill>
                <a:latin typeface="Calibri"/>
              </a:defRPr>
            </a:pPr>
            <a:r>
              <a:t>Safest Combinations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5029200" cy="411480"/>
          </a:xfrm>
          <a:prstGeom prst="roundRect">
            <a:avLst/>
          </a:prstGeom>
          <a:solidFill>
            <a:srgbClr val="113311"/>
          </a:solidFill>
          <a:ln>
            <a:solidFill>
              <a:srgbClr val="4A9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8280" y="1819825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4A"/>
                </a:solidFill>
                <a:latin typeface="Calibri"/>
              </a:defRPr>
            </a:pPr>
            <a:r>
              <a:t>GPT-OSS (20B) + English: 7.5%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86000"/>
            <a:ext cx="5029200" cy="411480"/>
          </a:xfrm>
          <a:prstGeom prst="roundRect">
            <a:avLst/>
          </a:prstGeom>
          <a:solidFill>
            <a:srgbClr val="113311"/>
          </a:solidFill>
          <a:ln>
            <a:solidFill>
              <a:srgbClr val="4A9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98767" y="236558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4A"/>
                </a:solidFill>
                <a:latin typeface="Calibri"/>
              </a:defRPr>
            </a:pPr>
            <a:r>
              <a:t>GPT-OSS (20B) + Afrikaans: 10.0%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834640"/>
            <a:ext cx="5029200" cy="411480"/>
          </a:xfrm>
          <a:prstGeom prst="roundRect">
            <a:avLst/>
          </a:prstGeom>
          <a:solidFill>
            <a:srgbClr val="113311"/>
          </a:solidFill>
          <a:ln>
            <a:solidFill>
              <a:srgbClr val="4A9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91168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4A"/>
                </a:solidFill>
                <a:latin typeface="Calibri"/>
              </a:defRPr>
            </a:pPr>
            <a:r>
              <a:rPr dirty="0"/>
              <a:t>Kimi K2.6 + English: 17.5%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383280"/>
            <a:ext cx="5029200" cy="411480"/>
          </a:xfrm>
          <a:prstGeom prst="roundRect">
            <a:avLst/>
          </a:prstGeom>
          <a:solidFill>
            <a:srgbClr val="113311"/>
          </a:solidFill>
          <a:ln>
            <a:solidFill>
              <a:srgbClr val="4A9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4518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4A"/>
                </a:solidFill>
                <a:latin typeface="Calibri"/>
              </a:defRPr>
            </a:pPr>
            <a:r>
              <a:t>Llama 3.3 (70B) + Afrikaans: 22.5%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31920"/>
            <a:ext cx="5029200" cy="411480"/>
          </a:xfrm>
          <a:prstGeom prst="roundRect">
            <a:avLst/>
          </a:prstGeom>
          <a:solidFill>
            <a:srgbClr val="113311"/>
          </a:solidFill>
          <a:ln>
            <a:solidFill>
              <a:srgbClr val="4A9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99203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4A"/>
                </a:solidFill>
                <a:latin typeface="Calibri"/>
              </a:defRPr>
            </a:pPr>
            <a:r>
              <a:rPr dirty="0"/>
              <a:t>Kimi K2.6 + Tsonga: 25.0%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4A4A"/>
                </a:solidFill>
                <a:latin typeface="Calibri"/>
              </a:defRPr>
            </a:pPr>
            <a:r>
              <a:rPr dirty="0"/>
              <a:t>These models comply with harmful requests in local languages 9+ times out of 10.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9B4A"/>
                </a:solidFill>
                <a:latin typeface="Calibri"/>
              </a:defRPr>
            </a:pPr>
            <a:r>
              <a:t>GPT-OSS is the only model maintaining sub-15% ASR for English and sub-20% for Afrikaans.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AfriGuard | Global South AI Safety Hackathon, 19–21 June 2026 | Team AfriGuard, Cape Town 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20743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High-Level Attack Success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AA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AAAA"/>
                </a:solidFill>
                <a:latin typeface="Calibri"/>
              </a:defRPr>
            </a:pPr>
            <a:r>
              <a:t>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AAAA"/>
                </a:solidFill>
                <a:latin typeface="Calibri"/>
              </a:defRPr>
            </a:pPr>
            <a:r>
              <a:t>Qwen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AAAA"/>
                </a:solidFill>
                <a:latin typeface="Calibri"/>
              </a:defRPr>
            </a:pPr>
            <a:r>
              <a:t>Kimi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AAAA"/>
                </a:solidFill>
                <a:latin typeface="Calibri"/>
              </a:defRPr>
            </a:pPr>
            <a:r>
              <a:rPr dirty="0"/>
              <a:t>Llama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English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3295" y="1452457"/>
            <a:ext cx="2194560" cy="457200"/>
          </a:xfrm>
          <a:prstGeom prst="rect">
            <a:avLst/>
          </a:prstGeom>
          <a:solidFill>
            <a:srgbClr val="1A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79015" y="158580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9B4A"/>
                </a:solidFill>
                <a:latin typeface="Calibri"/>
              </a:defRPr>
            </a:pPr>
            <a:r>
              <a:rPr dirty="0"/>
              <a:t>7.5%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463040"/>
            <a:ext cx="2194560" cy="457200"/>
          </a:xfrm>
          <a:prstGeom prst="rect">
            <a:avLst/>
          </a:prstGeom>
          <a:solidFill>
            <a:srgbClr val="44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C040"/>
                </a:solidFill>
                <a:latin typeface="Calibri"/>
              </a:defRPr>
            </a:pPr>
            <a:r>
              <a:t>40.0%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2194560" cy="457200"/>
          </a:xfrm>
          <a:prstGeom prst="rect">
            <a:avLst/>
          </a:prstGeom>
          <a:solidFill>
            <a:srgbClr val="1A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9B4A"/>
                </a:solidFill>
                <a:latin typeface="Calibri"/>
              </a:defRPr>
            </a:pPr>
            <a:r>
              <a:t>17.5%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Afrikaans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33295" y="2008292"/>
            <a:ext cx="2194560" cy="457200"/>
          </a:xfrm>
          <a:prstGeom prst="rect">
            <a:avLst/>
          </a:prstGeom>
          <a:solidFill>
            <a:srgbClr val="1A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41855" y="2054011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9B4A"/>
                </a:solidFill>
                <a:latin typeface="Calibri"/>
              </a:defRPr>
            </a:pPr>
            <a:r>
              <a:t>10.0%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965960"/>
            <a:ext cx="2194560" cy="457200"/>
          </a:xfrm>
          <a:prstGeom prst="rect">
            <a:avLst/>
          </a:prstGeom>
          <a:solidFill>
            <a:srgbClr val="44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4A4A"/>
                </a:solidFill>
                <a:latin typeface="Calibri"/>
              </a:defRPr>
            </a:pPr>
            <a:r>
              <a:t>92.5%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965960"/>
            <a:ext cx="2194560" cy="457200"/>
          </a:xfrm>
          <a:prstGeom prst="rect">
            <a:avLst/>
          </a:prstGeom>
          <a:solidFill>
            <a:srgbClr val="44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C040"/>
                </a:solidFill>
                <a:latin typeface="Calibri"/>
              </a:defRPr>
            </a:pPr>
            <a:r>
              <a:t>55.0%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isiZulu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2468880"/>
            <a:ext cx="2194560" cy="457200"/>
          </a:xfrm>
          <a:prstGeom prst="rect">
            <a:avLst/>
          </a:prstGeom>
          <a:solidFill>
            <a:srgbClr val="44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C040"/>
                </a:solidFill>
                <a:latin typeface="Calibri"/>
              </a:defRPr>
            </a:pPr>
            <a:r>
              <a:t>35.0%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468880"/>
            <a:ext cx="2194560" cy="457200"/>
          </a:xfrm>
          <a:prstGeom prst="rect">
            <a:avLst/>
          </a:prstGeom>
          <a:solidFill>
            <a:srgbClr val="44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4A4A"/>
                </a:solidFill>
                <a:latin typeface="Calibri"/>
              </a:defRPr>
            </a:pPr>
            <a:r>
              <a:t>75.0%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468880"/>
            <a:ext cx="2194560" cy="457200"/>
          </a:xfrm>
          <a:prstGeom prst="rect">
            <a:avLst/>
          </a:prstGeom>
          <a:solidFill>
            <a:srgbClr val="44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C040"/>
                </a:solidFill>
                <a:latin typeface="Calibri"/>
              </a:defRPr>
            </a:pPr>
            <a:r>
              <a:t>42.5%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isiXhosa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2971800"/>
            <a:ext cx="2194560" cy="457200"/>
          </a:xfrm>
          <a:prstGeom prst="rect">
            <a:avLst/>
          </a:prstGeom>
          <a:solidFill>
            <a:srgbClr val="44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0" y="2971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C040"/>
                </a:solidFill>
                <a:latin typeface="Calibri"/>
              </a:defRPr>
            </a:pPr>
            <a:r>
              <a:t>40.0%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971800"/>
            <a:ext cx="2194560" cy="457200"/>
          </a:xfrm>
          <a:prstGeom prst="rect">
            <a:avLst/>
          </a:prstGeom>
          <a:solidFill>
            <a:srgbClr val="44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0" y="2971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4A4A"/>
                </a:solidFill>
                <a:latin typeface="Calibri"/>
              </a:defRPr>
            </a:pPr>
            <a:r>
              <a:t>90.0%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2971800"/>
            <a:ext cx="2194560" cy="457200"/>
          </a:xfrm>
          <a:prstGeom prst="rect">
            <a:avLst/>
          </a:prstGeom>
          <a:solidFill>
            <a:srgbClr val="44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0" y="2971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C040"/>
                </a:solidFill>
                <a:latin typeface="Calibri"/>
              </a:defRPr>
            </a:pPr>
            <a:r>
              <a:t>30.0%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Tsonga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3474720"/>
            <a:ext cx="2194560" cy="457200"/>
          </a:xfrm>
          <a:prstGeom prst="rect">
            <a:avLst/>
          </a:prstGeom>
          <a:solidFill>
            <a:srgbClr val="44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0" y="3474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C040"/>
                </a:solidFill>
                <a:latin typeface="Calibri"/>
              </a:defRPr>
            </a:pPr>
            <a:r>
              <a:t>52.5%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474720"/>
            <a:ext cx="2194560" cy="457200"/>
          </a:xfrm>
          <a:prstGeom prst="rect">
            <a:avLst/>
          </a:prstGeom>
          <a:solidFill>
            <a:srgbClr val="44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0" y="3474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4A4A"/>
                </a:solidFill>
                <a:latin typeface="Calibri"/>
              </a:defRPr>
            </a:pPr>
            <a:r>
              <a:t>80.0%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474720"/>
            <a:ext cx="2194560" cy="457200"/>
          </a:xfrm>
          <a:prstGeom prst="rect">
            <a:avLst/>
          </a:prstGeom>
          <a:solidFill>
            <a:srgbClr val="1A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29600" y="3474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9B4A"/>
                </a:solidFill>
                <a:latin typeface="Calibri"/>
              </a:defRPr>
            </a:pPr>
            <a:r>
              <a:t>25.0%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3977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Sesotho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0" y="3977639"/>
            <a:ext cx="2194560" cy="457200"/>
          </a:xfrm>
          <a:prstGeom prst="rect">
            <a:avLst/>
          </a:prstGeom>
          <a:solidFill>
            <a:srgbClr val="44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0" y="39776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C040"/>
                </a:solidFill>
                <a:latin typeface="Calibri"/>
              </a:defRPr>
            </a:pPr>
            <a:r>
              <a:t>47.5%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3977639"/>
            <a:ext cx="2194560" cy="457200"/>
          </a:xfrm>
          <a:prstGeom prst="rect">
            <a:avLst/>
          </a:prstGeom>
          <a:solidFill>
            <a:srgbClr val="44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43600" y="39776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4A4A"/>
                </a:solidFill>
                <a:latin typeface="Calibri"/>
              </a:defRPr>
            </a:pPr>
            <a:r>
              <a:t>80.0%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3977639"/>
            <a:ext cx="2194560" cy="457200"/>
          </a:xfrm>
          <a:prstGeom prst="rect">
            <a:avLst/>
          </a:prstGeom>
          <a:solidFill>
            <a:srgbClr val="1A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29600" y="39776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9B4A"/>
                </a:solidFill>
                <a:latin typeface="Calibri"/>
              </a:defRPr>
            </a:pPr>
            <a:r>
              <a:t>27.5%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Sepedi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0" y="4480560"/>
            <a:ext cx="2194560" cy="457200"/>
          </a:xfrm>
          <a:prstGeom prst="rect">
            <a:avLst/>
          </a:prstGeom>
          <a:solidFill>
            <a:srgbClr val="44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57600" y="4480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C040"/>
                </a:solidFill>
                <a:latin typeface="Calibri"/>
              </a:defRPr>
            </a:pPr>
            <a:r>
              <a:t>55.0%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0" y="4480560"/>
            <a:ext cx="2194560" cy="457200"/>
          </a:xfrm>
          <a:prstGeom prst="rect">
            <a:avLst/>
          </a:prstGeom>
          <a:solidFill>
            <a:srgbClr val="44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943600" y="4480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4A4A"/>
                </a:solidFill>
                <a:latin typeface="Calibri"/>
              </a:defRPr>
            </a:pPr>
            <a:r>
              <a:t>92.5%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4480560"/>
            <a:ext cx="2194560" cy="457200"/>
          </a:xfrm>
          <a:prstGeom prst="rect">
            <a:avLst/>
          </a:prstGeom>
          <a:solidFill>
            <a:srgbClr val="1A4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29600" y="4480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9B4A"/>
                </a:solidFill>
                <a:latin typeface="Calibri"/>
              </a:defRPr>
            </a:pPr>
            <a:r>
              <a:t>27.5%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54864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Calibri"/>
              </a:defRPr>
            </a:pPr>
            <a:r>
              <a:rPr dirty="0"/>
              <a:t>Color scale: Green (&lt;30%)  →  Yellow (30–</a:t>
            </a:r>
            <a:r>
              <a:rPr lang="en-ZA" dirty="0"/>
              <a:t>7</a:t>
            </a:r>
            <a:r>
              <a:rPr dirty="0"/>
              <a:t>0%)  →  Red (&gt;</a:t>
            </a:r>
            <a:r>
              <a:rPr lang="en-ZA" dirty="0"/>
              <a:t>7</a:t>
            </a:r>
            <a:r>
              <a:rPr dirty="0"/>
              <a:t>0%)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Qwen dominates the red zone. GPT maintains the greenest profile.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AfriGuard | Global South AI Safety Hackathon, 19–21 June 2026 | Team AfriGuard, Cape Town Hub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990E9A30-32D0-D956-B6B3-EB1DC4B68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20743"/>
            <a:ext cx="12192000" cy="5353473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96F0853E-3C05-D07D-5106-1281D628E080}"/>
              </a:ext>
            </a:extLst>
          </p:cNvPr>
          <p:cNvSpPr txBox="1"/>
          <p:nvPr/>
        </p:nvSpPr>
        <p:spPr>
          <a:xfrm>
            <a:off x="10607040" y="310896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9B4A"/>
                </a:solidFill>
                <a:latin typeface="Calibri"/>
              </a:defRPr>
            </a:pPr>
            <a:r>
              <a:rPr lang="en-ZA" dirty="0"/>
              <a:t>30</a:t>
            </a:r>
            <a:r>
              <a:rPr dirty="0"/>
              <a:t>%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3B7D4AD-166A-D29F-7D47-FE38E0752B42}"/>
              </a:ext>
            </a:extLst>
          </p:cNvPr>
          <p:cNvSpPr txBox="1"/>
          <p:nvPr/>
        </p:nvSpPr>
        <p:spPr>
          <a:xfrm>
            <a:off x="10607040" y="2376652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C040"/>
                </a:solidFill>
                <a:latin typeface="Calibri"/>
              </a:defRPr>
            </a:pPr>
            <a:r>
              <a:rPr lang="en-ZA" dirty="0"/>
              <a:t>70</a:t>
            </a:r>
            <a:r>
              <a:rPr dirty="0"/>
              <a:t>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Low-Resource Languages Bypass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0972800" cy="1188720"/>
          </a:xfrm>
          <a:prstGeom prst="roundRect">
            <a:avLst/>
          </a:prstGeom>
          <a:solidFill>
            <a:srgbClr val="1A1F2E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90D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2333" y="15773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0D9"/>
                </a:solidFill>
                <a:latin typeface="Calibri"/>
              </a:defRPr>
            </a:pPr>
            <a:r>
              <a:t>TOKEN ALIGNMENT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5453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rPr dirty="0"/>
              <a:t>Safety-critical concepts ("fraud", "scam", "phishing") may not align cross-lingually in the embedding space. Agglutinative Bantu morphology creates token sequences that bypass English-trained safety classifiers.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10972800" cy="1188720"/>
          </a:xfrm>
          <a:prstGeom prst="roundRect">
            <a:avLst/>
          </a:prstGeom>
          <a:solidFill>
            <a:srgbClr val="1A1F2E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2333" y="2948941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C040"/>
                </a:solidFill>
                <a:latin typeface="Calibri"/>
              </a:defRPr>
            </a:pPr>
            <a:r>
              <a:t>TRAINING DATA IMBALANCE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604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Safety training data is overwhelmingly English. Qwen 3's training on 36T tokens across 119 languages prioritises breadth over depth — language coverage ≠ safety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10972800" cy="1188720"/>
          </a:xfrm>
          <a:prstGeom prst="roundRect">
            <a:avLst/>
          </a:prstGeom>
          <a:solidFill>
            <a:srgbClr val="1A1F2E"/>
          </a:solidFill>
          <a:ln>
            <a:solidFill>
              <a:srgbClr val="E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2519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24A4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2333" y="431291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4A4A"/>
                </a:solidFill>
                <a:latin typeface="Calibri"/>
              </a:defRPr>
            </a:pPr>
            <a:r>
              <a:rPr dirty="0"/>
              <a:t>CLASSIFIER DISTRIBUTION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rPr dirty="0"/>
              <a:t>Safety classifiers trained on English n-gram and morphological patterns fail when confronted with Bantu language structures. The consistent gradient English &lt; Afrikaans &lt; Bantu reflects distributional distance from the training domain.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9B4A"/>
                </a:solidFill>
                <a:latin typeface="Calibri"/>
              </a:defRPr>
            </a:pPr>
            <a:r>
              <a:t>KEY INSIGHT: GPT-OSS (MoE architecture) transfers safety better across languages than dense models — architecture may play a significant role in cross-lingual safety transfer.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rPr dirty="0" err="1"/>
              <a:t>AfriGuard</a:t>
            </a:r>
            <a:r>
              <a:rPr dirty="0"/>
              <a:t> | Global South AI Safety Hackathon, 19–21 June 2026 | Team </a:t>
            </a:r>
            <a:r>
              <a:rPr dirty="0" err="1"/>
              <a:t>AfriGuard</a:t>
            </a:r>
            <a:r>
              <a:rPr dirty="0"/>
              <a:t>, Cape Town 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Multilingual Safety Can't Be an Afterthought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17507"/>
            <a:ext cx="10972800" cy="1159933"/>
          </a:xfrm>
          <a:prstGeom prst="roundRect">
            <a:avLst/>
          </a:prstGeom>
          <a:solidFill>
            <a:srgbClr val="332211"/>
          </a:solidFill>
          <a:ln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487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C040"/>
                </a:solidFill>
                <a:latin typeface="Calibri"/>
              </a:defRPr>
            </a:pPr>
            <a:r>
              <a:rPr dirty="0"/>
              <a:t>KEY TAKEAWAY (Version 2.0)</a:t>
            </a:r>
            <a:br>
              <a:rPr dirty="0"/>
            </a:br>
            <a:br>
              <a:rPr dirty="0"/>
            </a:br>
            <a:r>
              <a:rPr dirty="0"/>
              <a:t>A model can be safe in English and catastrophically unsafe in an African language. Qwen 3 (32B) proves it: 7.1% refusal and 78.6% attack success across every language tested. Even the most robust model, GPT-OSS (20B), still achieves 35.4% ASR — far from 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9170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85403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rPr sz="1600" dirty="0"/>
              <a:t>• Audit chatbots in isiZulu, isiXhosa, and Sepedi before deployment — especially for fraud, disinformation, and incitement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3392419"/>
            <a:ext cx="112708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rPr sz="1600" dirty="0"/>
              <a:t>• Fine-tune safety classifiers on African-language adversarial examples, not English-only ones. The </a:t>
            </a:r>
            <a:r>
              <a:rPr sz="1600" dirty="0" err="1"/>
              <a:t>AfriGuard</a:t>
            </a:r>
            <a:r>
              <a:rPr sz="1600" dirty="0"/>
              <a:t> dataset is open for this purpose.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" y="3913499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rPr sz="1600" dirty="0"/>
              <a:t>• Extend coverage to Ndebele, Swati, Venda, and Tshivenda — given isiXhosa's 60.0% ASR, these unstudied languages are likely equally vulnerable.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39" y="4510728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rPr sz="1600" dirty="0"/>
              <a:t>• Engage FSCA, SARB, and the IEC on multilingual safety requirements for deployed models in financial and electoral contexts.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39" y="4898629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rPr sz="1600" dirty="0"/>
              <a:t>• Do not assume multilingual capability implies multilingual safety. Qwen 3's 119-language training did not prevent 78.6% ASR.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39" y="5261536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rPr sz="1600" dirty="0"/>
              <a:t>• Implement data completeness validation in evaluation pipelines to prevent silent data loss.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90D9"/>
                </a:solidFill>
                <a:latin typeface="Calibri"/>
              </a:defRPr>
            </a:pPr>
            <a:r>
              <a:t>Code, dataset and evaluation pipeline open for community auditing · Version 2.0 (June 22,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AfriGuard | Global South AI Safety Hackathon, 19–21 June 2026 | Team AfriGuard, Cape Town Hub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8627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AfriGuard</a:t>
            </a:r>
            <a:r>
              <a:rPr dirty="0"/>
              <a:t>: Open-Source Safety Auditing</a:t>
            </a:r>
            <a:br>
              <a:rPr dirty="0"/>
            </a:br>
            <a:r>
              <a:rPr dirty="0"/>
              <a:t>for African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Calibri"/>
              </a:defRPr>
            </a:pPr>
            <a:r>
              <a:t>1,120 model responses evaluated · 7 languages · 4 frontier models · 4 harm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C040"/>
                </a:solidFill>
                <a:latin typeface="Calibri"/>
              </a:defRPr>
            </a:pPr>
            <a:r>
              <a:t>Version 2.0 — Corrected and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  <a:latin typeface="Calibri"/>
              </a:defRPr>
            </a:pPr>
            <a:r>
              <a:t>github.com/ubayd-hattas/AfriGuard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  <a:latin typeface="Calibri"/>
              </a:defRPr>
            </a:pPr>
            <a:r>
              <a:t>afriguard.streamlit.app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Jaswin Chinthala · Seth Miguel Ferreira · Ubayd Hattas · Sebastian Stent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Team AfriGuard | Global South AI Safety Hackathon,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AfriGuard | Global South AI Safety Hackathon, 19–21 June 2026 | Team AfriGuard, Cape Town 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1508</Words>
  <Application>Microsoft Office PowerPoint</Application>
  <PresentationFormat>Widescreen</PresentationFormat>
  <Paragraphs>191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Jaswin Chinthala</cp:lastModifiedBy>
  <cp:revision>3</cp:revision>
  <dcterms:created xsi:type="dcterms:W3CDTF">2013-01-27T09:14:16Z</dcterms:created>
  <dcterms:modified xsi:type="dcterms:W3CDTF">2026-06-22T10:18:00Z</dcterms:modified>
  <cp:category/>
</cp:coreProperties>
</file>